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987" r:id="rId1"/>
  </p:sldMasterIdLst>
  <p:notesMasterIdLst>
    <p:notesMasterId r:id="rId21"/>
  </p:notesMasterIdLst>
  <p:sldIdLst>
    <p:sldId id="256" r:id="rId2"/>
    <p:sldId id="262" r:id="rId3"/>
    <p:sldId id="311" r:id="rId4"/>
    <p:sldId id="293" r:id="rId5"/>
    <p:sldId id="295" r:id="rId6"/>
    <p:sldId id="300" r:id="rId7"/>
    <p:sldId id="282" r:id="rId8"/>
    <p:sldId id="266" r:id="rId9"/>
    <p:sldId id="269" r:id="rId10"/>
    <p:sldId id="270" r:id="rId11"/>
    <p:sldId id="303" r:id="rId12"/>
    <p:sldId id="297" r:id="rId13"/>
    <p:sldId id="306" r:id="rId14"/>
    <p:sldId id="308" r:id="rId15"/>
    <p:sldId id="299" r:id="rId16"/>
    <p:sldId id="279" r:id="rId17"/>
    <p:sldId id="278" r:id="rId18"/>
    <p:sldId id="277" r:id="rId19"/>
    <p:sldId id="28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CC"/>
    <a:srgbClr val="C59B15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8C2CAA-D078-4340-A605-D8EBC66418D7}" v="101" dt="2026-06-04T12:39:28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9A063-256E-41AB-9A74-C9DAB198C5E4}" type="datetimeFigureOut">
              <a:rPr lang="en-IN" smtClean="0"/>
              <a:t>08-07-2026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A9F2B-8440-4187-A92D-C42521A57E4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53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75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5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39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0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71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0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7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51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49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12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706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545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045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830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96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242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0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37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88" r:id="rId1"/>
    <p:sldLayoutId id="2147484989" r:id="rId2"/>
    <p:sldLayoutId id="2147484990" r:id="rId3"/>
    <p:sldLayoutId id="2147484991" r:id="rId4"/>
    <p:sldLayoutId id="2147484992" r:id="rId5"/>
    <p:sldLayoutId id="2147484993" r:id="rId6"/>
    <p:sldLayoutId id="2147484994" r:id="rId7"/>
    <p:sldLayoutId id="2147484995" r:id="rId8"/>
    <p:sldLayoutId id="2147484996" r:id="rId9"/>
    <p:sldLayoutId id="2147484997" r:id="rId10"/>
    <p:sldLayoutId id="2147484998" r:id="rId11"/>
    <p:sldLayoutId id="2147484999" r:id="rId12"/>
    <p:sldLayoutId id="2147485000" r:id="rId13"/>
    <p:sldLayoutId id="2147485001" r:id="rId14"/>
    <p:sldLayoutId id="2147485002" r:id="rId15"/>
    <p:sldLayoutId id="2147485003" r:id="rId16"/>
    <p:sldLayoutId id="21474850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D6F8-84FB-3A56-E4CB-33B2C1E8C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32" y="513184"/>
            <a:ext cx="11140576" cy="324705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SALES &amp; REVENUE PERFORMANCE ANALYSIS</a:t>
            </a:r>
            <a:br>
              <a:rPr lang="en-IN" dirty="0"/>
            </a:br>
            <a:br>
              <a:rPr lang="en-US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AE546-8089-69BD-97DE-435333951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76" y="3564294"/>
            <a:ext cx="9115133" cy="2939143"/>
          </a:xfrm>
        </p:spPr>
        <p:txBody>
          <a:bodyPr>
            <a:normAutofit/>
          </a:bodyPr>
          <a:lstStyle/>
          <a:p>
            <a:pPr algn="ctr"/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:- </a:t>
            </a:r>
          </a:p>
          <a:p>
            <a:pPr algn="ctr"/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 PATEL</a:t>
            </a:r>
          </a:p>
          <a:p>
            <a:pPr algn="ctr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PRASHIK GAWAI</a:t>
            </a:r>
          </a:p>
          <a:p>
            <a:pPr algn="ctr"/>
            <a:endParaRPr lang="en-IN" dirty="0">
              <a:solidFill>
                <a:schemeClr val="tx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:- ASHISH RAJPUT </a:t>
            </a:r>
          </a:p>
          <a:p>
            <a:pPr algn="ctr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TYPE :- POWER BI</a:t>
            </a:r>
            <a:endParaRPr lang="en-IN" sz="2000" dirty="0">
              <a:solidFill>
                <a:schemeClr val="tx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13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1B30-D35C-73EE-DBC2-B78E090A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3" y="285141"/>
            <a:ext cx="9927357" cy="60126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BDA67A-5646-9853-4187-3CB4AA85C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6857" y="1458262"/>
            <a:ext cx="9611568" cy="4879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/>
              <a:t>Sales analysis helps businesses understand revenue, profit, and customer performance through data-driven insights. </a:t>
            </a:r>
          </a:p>
          <a:p>
            <a:endParaRPr lang="en-IN" sz="1800" dirty="0"/>
          </a:p>
          <a:p>
            <a:r>
              <a:rPr lang="en-IN" sz="1800" dirty="0"/>
              <a:t>Power BI transforms raw sales data into interactive visual reports for better decision-making. </a:t>
            </a:r>
          </a:p>
          <a:p>
            <a:endParaRPr lang="en-IN" sz="1800" dirty="0"/>
          </a:p>
          <a:p>
            <a:r>
              <a:rPr lang="en-IN" sz="1800" dirty="0"/>
              <a:t>This project analyzes sales, profit, products, customers, and regional performance. </a:t>
            </a:r>
          </a:p>
          <a:p>
            <a:endParaRPr lang="en-IN" sz="1800" dirty="0"/>
          </a:p>
          <a:p>
            <a:r>
              <a:rPr lang="en-IN" sz="1800" dirty="0"/>
              <a:t>Data visualization simplifies complex business information. </a:t>
            </a:r>
          </a:p>
          <a:p>
            <a:endParaRPr lang="en-IN" sz="1800" dirty="0"/>
          </a:p>
          <a:p>
            <a:r>
              <a:rPr lang="en-IN" sz="1800" dirty="0"/>
              <a:t>AI-powered visuals help identify important business trends and drivers. 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929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CF5B-3544-0F29-93D0-FC70BB5D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295E-FD3F-42EF-0593-7AF7AAFA4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3" y="285141"/>
            <a:ext cx="9927357" cy="60126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41AB57-76A9-FC45-DE19-B308F91D2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6857" y="1592789"/>
            <a:ext cx="9294016" cy="4715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Objective 1: Collect and Prepare Business Data :-  </a:t>
            </a:r>
            <a:r>
              <a:rPr lang="en-IN" sz="1600" dirty="0"/>
              <a:t>Gather, organize, and prepare sales, customer, product, and regional data for analysis. </a:t>
            </a:r>
          </a:p>
          <a:p>
            <a:r>
              <a:rPr lang="en-IN" sz="1600" b="1" dirty="0"/>
              <a:t>Objective 2: Analyze Overall Business Performance :- </a:t>
            </a:r>
            <a:r>
              <a:rPr lang="en-IN" sz="1600" dirty="0"/>
              <a:t>Evaluate sales, profit, orders, and business growth trends to understand overall performance. </a:t>
            </a:r>
          </a:p>
          <a:p>
            <a:r>
              <a:rPr lang="en-IN" sz="1600" b="1" dirty="0"/>
              <a:t>Objective 3: Analyze Product Performance :- </a:t>
            </a:r>
            <a:r>
              <a:rPr lang="en-IN" sz="1600" dirty="0"/>
              <a:t>Identify high-performing and low-performing products based on their contribution to sales and profit. </a:t>
            </a:r>
          </a:p>
          <a:p>
            <a:r>
              <a:rPr lang="en-IN" sz="1600" b="1" dirty="0"/>
              <a:t>Objective 4: Assess Regional Performance:- C</a:t>
            </a:r>
            <a:r>
              <a:rPr lang="en-IN" sz="1600" dirty="0"/>
              <a:t>ompare sales and profit across different regions to identify strong and weak business markets. </a:t>
            </a:r>
          </a:p>
          <a:p>
            <a:r>
              <a:rPr lang="en-IN" sz="1600" b="1" dirty="0"/>
              <a:t>Objective 5: Analyze Customer Segment Performance :- </a:t>
            </a:r>
            <a:r>
              <a:rPr lang="en-IN" sz="1600" dirty="0"/>
              <a:t>Understand how different customer groups contribute to sales, profit, and overall business growth. </a:t>
            </a:r>
          </a:p>
          <a:p>
            <a:r>
              <a:rPr lang="en-IN" sz="1600" b="1" dirty="0"/>
              <a:t>Objective 6: Create an Interactive Dashboard and Generate Insights :- </a:t>
            </a:r>
            <a:r>
              <a:rPr lang="en-IN" sz="1600" dirty="0"/>
              <a:t>Present key findings through an interactive dashboard and derive actionable recommendations for decision-making.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4332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7FE7-0C72-5C28-7EE4-ACDC1555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0116-1F29-4392-C2D6-56340F15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3" y="285141"/>
            <a:ext cx="9927357" cy="60126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BDEEBE-7B3B-483D-8542-4AB86D9FF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0931" y="952044"/>
            <a:ext cx="8650514" cy="611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600" b="1" dirty="0"/>
              <a:t>Domain :</a:t>
            </a:r>
            <a:r>
              <a:rPr lang="en-IN" sz="1600" dirty="0"/>
              <a:t> Retail Sales Dataset</a:t>
            </a:r>
          </a:p>
          <a:p>
            <a:r>
              <a:rPr lang="en-IN" sz="1600" dirty="0"/>
              <a:t>Number of Records: 200 , Number of Customers: 200 , Number of Orders: 200 </a:t>
            </a:r>
          </a:p>
          <a:p>
            <a:r>
              <a:rPr lang="en-IN" sz="1600" dirty="0"/>
              <a:t>Columns Include: </a:t>
            </a:r>
          </a:p>
          <a:p>
            <a:pPr lvl="1"/>
            <a:r>
              <a:rPr lang="en-IN" sz="1400" dirty="0"/>
              <a:t>Order Date </a:t>
            </a:r>
          </a:p>
          <a:p>
            <a:pPr lvl="1"/>
            <a:r>
              <a:rPr lang="en-IN" sz="1400" dirty="0"/>
              <a:t>Customer Name </a:t>
            </a:r>
          </a:p>
          <a:p>
            <a:pPr lvl="1"/>
            <a:r>
              <a:rPr lang="en-IN" sz="1400" dirty="0"/>
              <a:t>Product Name </a:t>
            </a:r>
          </a:p>
          <a:p>
            <a:pPr lvl="1"/>
            <a:r>
              <a:rPr lang="en-IN" sz="1400" dirty="0"/>
              <a:t>Category </a:t>
            </a:r>
          </a:p>
          <a:p>
            <a:pPr lvl="1"/>
            <a:r>
              <a:rPr lang="en-IN" sz="1400" dirty="0"/>
              <a:t>Region </a:t>
            </a:r>
          </a:p>
          <a:p>
            <a:pPr lvl="1"/>
            <a:r>
              <a:rPr lang="en-IN" sz="1400" dirty="0"/>
              <a:t>Sales </a:t>
            </a:r>
          </a:p>
          <a:p>
            <a:pPr lvl="1"/>
            <a:r>
              <a:rPr lang="en-IN" sz="1400" dirty="0"/>
              <a:t>Profit </a:t>
            </a:r>
          </a:p>
          <a:p>
            <a:pPr lvl="1"/>
            <a:r>
              <a:rPr lang="en-IN" sz="1400" dirty="0"/>
              <a:t>Quantity </a:t>
            </a:r>
          </a:p>
          <a:p>
            <a:pPr lvl="1"/>
            <a:r>
              <a:rPr lang="en-IN" sz="1400" dirty="0"/>
              <a:t>Segment </a:t>
            </a:r>
          </a:p>
          <a:p>
            <a:pPr marL="0" indent="0">
              <a:buNone/>
            </a:pPr>
            <a:r>
              <a:rPr lang="en-IN" sz="1600" b="1" dirty="0"/>
              <a:t>About Data</a:t>
            </a:r>
            <a:endParaRPr lang="en-IN" sz="1600" dirty="0"/>
          </a:p>
          <a:p>
            <a:r>
              <a:rPr lang="en-IN" sz="1400" dirty="0"/>
              <a:t>Contains customer purchase information. </a:t>
            </a:r>
          </a:p>
          <a:p>
            <a:r>
              <a:rPr lang="en-IN" sz="1400" dirty="0"/>
              <a:t>Used for sales and profitability analysis. </a:t>
            </a:r>
          </a:p>
          <a:p>
            <a:r>
              <a:rPr lang="en-IN" sz="1400" dirty="0"/>
              <a:t>Supports business performance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3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0551-D2AD-8E10-F071-01B7CC28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CF50-6AA9-5AC1-E0B7-BA85FB38C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1" y="102635"/>
            <a:ext cx="10748865" cy="60126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 (CONT’D)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4714DF-2C18-2D12-2938-3154CE0A4F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47"/>
          <a:stretch>
            <a:fillRect/>
          </a:stretch>
        </p:blipFill>
        <p:spPr>
          <a:xfrm>
            <a:off x="721567" y="1094681"/>
            <a:ext cx="10748865" cy="549213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037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CF97-524E-CD73-A84A-9B3FF2B9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BE11-FEA3-3CF4-3D95-ECF0814C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1" y="102635"/>
            <a:ext cx="10748865" cy="60126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 (CONT’D)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81F6B-C5C7-9A80-E901-852416B6D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918" y="1012130"/>
            <a:ext cx="6504935" cy="5486658"/>
          </a:xfrm>
          <a:prstGeom prst="round2DiagRect">
            <a:avLst>
              <a:gd name="adj1" fmla="val 955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84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3FA4-BEDD-9885-0251-B28D5E2B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253" y="143332"/>
            <a:ext cx="9659493" cy="65616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FLOW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29FEE2F-CEEA-A3B6-E6C6-2AA36F3BB2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9050" y="975157"/>
            <a:ext cx="3063211" cy="5768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Data Collection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Data Cleaning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Data Modelling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DAX Measures Creation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Data Visualization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Interactive Dashboard Creation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IN" sz="1800" dirty="0"/>
              <a:t>AI Insights Generation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432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6794-FAA2-4AB1-32FA-C5573F9B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18" y="507582"/>
            <a:ext cx="9739764" cy="72387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 &amp; TASKS</a:t>
            </a:r>
            <a:endParaRPr lang="en-IN" sz="3600" b="1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9C895D-BCD0-D6E0-39D7-454F2BFB5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2" y="245522"/>
            <a:ext cx="1939608" cy="124799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3CA0EA-30EA-7437-2185-BC7DFF063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902175"/>
              </p:ext>
            </p:extLst>
          </p:nvPr>
        </p:nvGraphicFramePr>
        <p:xfrm>
          <a:off x="1432240" y="1755579"/>
          <a:ext cx="9636702" cy="451219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94936">
                  <a:extLst>
                    <a:ext uri="{9D8B030D-6E8A-4147-A177-3AD203B41FA5}">
                      <a16:colId xmlns:a16="http://schemas.microsoft.com/office/drawing/2014/main" val="3017302349"/>
                    </a:ext>
                  </a:extLst>
                </a:gridCol>
                <a:gridCol w="3862873">
                  <a:extLst>
                    <a:ext uri="{9D8B030D-6E8A-4147-A177-3AD203B41FA5}">
                      <a16:colId xmlns:a16="http://schemas.microsoft.com/office/drawing/2014/main" val="1423592964"/>
                    </a:ext>
                  </a:extLst>
                </a:gridCol>
                <a:gridCol w="4378893">
                  <a:extLst>
                    <a:ext uri="{9D8B030D-6E8A-4147-A177-3AD203B41FA5}">
                      <a16:colId xmlns:a16="http://schemas.microsoft.com/office/drawing/2014/main" val="3524399099"/>
                    </a:ext>
                  </a:extLst>
                </a:gridCol>
              </a:tblGrid>
              <a:tr h="412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Objective No.</a:t>
                      </a:r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Objectives</a:t>
                      </a:r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Tasks</a:t>
                      </a:r>
                    </a:p>
                  </a:txBody>
                  <a:tcPr marL="51329" marR="51329" marT="25665" marB="25665" anchor="ctr"/>
                </a:tc>
                <a:extLst>
                  <a:ext uri="{0D108BD9-81ED-4DB2-BD59-A6C34878D82A}">
                    <a16:rowId xmlns:a16="http://schemas.microsoft.com/office/drawing/2014/main" val="4194906964"/>
                  </a:ext>
                </a:extLst>
              </a:tr>
              <a:tr h="81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1</a:t>
                      </a:r>
                      <a:endParaRPr lang="en-IN" sz="1200" dirty="0"/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Sales Performance Analysis</a:t>
                      </a:r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1.1</a:t>
                      </a:r>
                      <a:r>
                        <a:rPr lang="en-IN" sz="1300" dirty="0"/>
                        <a:t> Calculate Total Sales , Profit , Margin%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1.2</a:t>
                      </a:r>
                      <a:r>
                        <a:rPr lang="en-IN" sz="1300" dirty="0"/>
                        <a:t> Analyze Sales Trends Over Time</a:t>
                      </a:r>
                    </a:p>
                  </a:txBody>
                  <a:tcPr marL="51329" marR="51329" marT="25665" marB="25665" anchor="ctr"/>
                </a:tc>
                <a:extLst>
                  <a:ext uri="{0D108BD9-81ED-4DB2-BD59-A6C34878D82A}">
                    <a16:rowId xmlns:a16="http://schemas.microsoft.com/office/drawing/2014/main" val="3298626518"/>
                  </a:ext>
                </a:extLst>
              </a:tr>
              <a:tr h="81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2</a:t>
                      </a:r>
                      <a:endParaRPr lang="en-IN" sz="1200" dirty="0"/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Product Performance Analysis</a:t>
                      </a:r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2.1</a:t>
                      </a:r>
                      <a:r>
                        <a:rPr lang="en-IN" sz="1300" dirty="0"/>
                        <a:t> Identify Products with Highest Sales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2.2</a:t>
                      </a:r>
                      <a:r>
                        <a:rPr lang="en-IN" sz="1300" dirty="0"/>
                        <a:t> Analyze Product Profitability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2.3</a:t>
                      </a:r>
                      <a:r>
                        <a:rPr lang="en-IN" sz="1300" dirty="0"/>
                        <a:t> Compare Product Performance</a:t>
                      </a:r>
                    </a:p>
                  </a:txBody>
                  <a:tcPr marL="51329" marR="51329" marT="25665" marB="25665" anchor="ctr"/>
                </a:tc>
                <a:extLst>
                  <a:ext uri="{0D108BD9-81ED-4DB2-BD59-A6C34878D82A}">
                    <a16:rowId xmlns:a16="http://schemas.microsoft.com/office/drawing/2014/main" val="3139949346"/>
                  </a:ext>
                </a:extLst>
              </a:tr>
              <a:tr h="81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3</a:t>
                      </a:r>
                      <a:endParaRPr lang="en-IN" sz="1200" dirty="0"/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Regional Performance Analysis</a:t>
                      </a:r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3.1</a:t>
                      </a:r>
                      <a:r>
                        <a:rPr lang="en-IN" sz="1300" dirty="0"/>
                        <a:t> Compare Regional Sales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3.2</a:t>
                      </a:r>
                      <a:r>
                        <a:rPr lang="en-IN" sz="1300" dirty="0"/>
                        <a:t> Analyze Regional Profit Contribution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3.3</a:t>
                      </a:r>
                      <a:r>
                        <a:rPr lang="en-IN" sz="1300" dirty="0"/>
                        <a:t> Visualize Geographic Performance</a:t>
                      </a:r>
                    </a:p>
                  </a:txBody>
                  <a:tcPr marL="51329" marR="51329" marT="25665" marB="25665" anchor="ctr"/>
                </a:tc>
                <a:extLst>
                  <a:ext uri="{0D108BD9-81ED-4DB2-BD59-A6C34878D82A}">
                    <a16:rowId xmlns:a16="http://schemas.microsoft.com/office/drawing/2014/main" val="1566209514"/>
                  </a:ext>
                </a:extLst>
              </a:tr>
              <a:tr h="81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4</a:t>
                      </a:r>
                      <a:endParaRPr lang="en-IN" sz="1200" dirty="0"/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Customer Segment Analysis</a:t>
                      </a:r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4.1</a:t>
                      </a:r>
                      <a:r>
                        <a:rPr lang="en-IN" sz="1300" dirty="0"/>
                        <a:t> Analyze Sales by Segment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4.2</a:t>
                      </a:r>
                      <a:r>
                        <a:rPr lang="en-IN" sz="1300" dirty="0"/>
                        <a:t> Determine Profit by Segment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4.3</a:t>
                      </a:r>
                      <a:r>
                        <a:rPr lang="en-IN" sz="1300" dirty="0"/>
                        <a:t> Identify High-Value Customer Groups</a:t>
                      </a:r>
                    </a:p>
                  </a:txBody>
                  <a:tcPr marL="51329" marR="51329" marT="25665" marB="25665" anchor="ctr"/>
                </a:tc>
                <a:extLst>
                  <a:ext uri="{0D108BD9-81ED-4DB2-BD59-A6C34878D82A}">
                    <a16:rowId xmlns:a16="http://schemas.microsoft.com/office/drawing/2014/main" val="523005892"/>
                  </a:ext>
                </a:extLst>
              </a:tr>
              <a:tr h="81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5</a:t>
                      </a:r>
                      <a:endParaRPr lang="en-IN" sz="1200" dirty="0"/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AI Insights Analysis</a:t>
                      </a:r>
                    </a:p>
                  </a:txBody>
                  <a:tcPr marL="51329" marR="51329" marT="25665" marB="256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5.1</a:t>
                      </a:r>
                      <a:r>
                        <a:rPr lang="en-IN" sz="1300" dirty="0"/>
                        <a:t> Identify Key Profit Drivers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5.2</a:t>
                      </a:r>
                      <a:r>
                        <a:rPr lang="en-IN" sz="1300" dirty="0"/>
                        <a:t> Generate Smart Narrative Insights</a:t>
                      </a:r>
                    </a:p>
                    <a:p>
                      <a:pPr>
                        <a:buNone/>
                      </a:pPr>
                      <a:r>
                        <a:rPr lang="en-IN" sz="1300" b="1" dirty="0"/>
                        <a:t>5.3</a:t>
                      </a:r>
                      <a:r>
                        <a:rPr lang="en-IN" sz="1300" dirty="0"/>
                        <a:t> Use Q&amp;A Visual for Business Queries</a:t>
                      </a:r>
                    </a:p>
                  </a:txBody>
                  <a:tcPr marL="51329" marR="51329" marT="25665" marB="25665" anchor="ctr"/>
                </a:tc>
                <a:extLst>
                  <a:ext uri="{0D108BD9-81ED-4DB2-BD59-A6C34878D82A}">
                    <a16:rowId xmlns:a16="http://schemas.microsoft.com/office/drawing/2014/main" val="88390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35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2A50-730D-CCC5-48BF-4C4980F3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60" y="383802"/>
            <a:ext cx="9901849" cy="68485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IN" sz="20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 :- SALES PERFORMANCE ANALYSIS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7C1AFB-F1DD-2041-91C8-F5A218E22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7" y="90457"/>
            <a:ext cx="1805657" cy="1271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AFE3EB5-4D09-664D-01BA-820702E99B7F}"/>
              </a:ext>
            </a:extLst>
          </p:cNvPr>
          <p:cNvSpPr txBox="1"/>
          <p:nvPr/>
        </p:nvSpPr>
        <p:spPr>
          <a:xfrm>
            <a:off x="1229360" y="5722071"/>
            <a:ext cx="10129939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The business generated strong sales of 196K and profit of 33.87K, while sales trends over time reveal fluctuations in customer demand that influenced overall performance.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1885DD-4CEF-D747-72D5-BD028B7A99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85" t="20925" r="64915" b="68607"/>
          <a:stretch>
            <a:fillRect/>
          </a:stretch>
        </p:blipFill>
        <p:spPr>
          <a:xfrm>
            <a:off x="812359" y="2321176"/>
            <a:ext cx="3739149" cy="823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5D2D86-1B02-D3C2-6C85-602E215001E0}"/>
              </a:ext>
            </a:extLst>
          </p:cNvPr>
          <p:cNvSpPr txBox="1"/>
          <p:nvPr/>
        </p:nvSpPr>
        <p:spPr>
          <a:xfrm>
            <a:off x="934668" y="1406886"/>
            <a:ext cx="3953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:- Analyze Total Sales , Profit using DAX</a:t>
            </a:r>
            <a:endParaRPr lang="en-IN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3B182B4-9FA2-CC2C-4865-CFFCC33DDD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85" t="21335" r="54007" b="68608"/>
          <a:stretch>
            <a:fillRect/>
          </a:stretch>
        </p:blipFill>
        <p:spPr>
          <a:xfrm>
            <a:off x="812358" y="3137546"/>
            <a:ext cx="1596565" cy="8225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3454B6F-431B-779B-F78F-BFDD59BA2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35" t="20924" r="37102" b="67417"/>
          <a:stretch>
            <a:fillRect/>
          </a:stretch>
        </p:blipFill>
        <p:spPr>
          <a:xfrm>
            <a:off x="2279920" y="3144284"/>
            <a:ext cx="2271588" cy="8231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34FAA4-A80B-484B-D7BE-0820067DDC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35" t="30728" r="37102" b="67417"/>
          <a:stretch>
            <a:fillRect/>
          </a:stretch>
        </p:blipFill>
        <p:spPr>
          <a:xfrm>
            <a:off x="934668" y="3835723"/>
            <a:ext cx="2827167" cy="853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810593-0938-1033-1B05-A2562C37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17" t="20924" r="26257" b="67417"/>
          <a:stretch>
            <a:fillRect/>
          </a:stretch>
        </p:blipFill>
        <p:spPr>
          <a:xfrm>
            <a:off x="804695" y="3881575"/>
            <a:ext cx="1475225" cy="90167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C7392C4-0361-D8B3-E34A-02D1068BA29D}"/>
              </a:ext>
            </a:extLst>
          </p:cNvPr>
          <p:cNvSpPr txBox="1"/>
          <p:nvPr/>
        </p:nvSpPr>
        <p:spPr>
          <a:xfrm>
            <a:off x="6470088" y="1445310"/>
            <a:ext cx="478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Trends Over Time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75AE715-46E3-85FA-0947-26B578E6E9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11" t="31489" r="19201" b="13578"/>
          <a:stretch>
            <a:fillRect/>
          </a:stretch>
        </p:blipFill>
        <p:spPr>
          <a:xfrm>
            <a:off x="4995120" y="2263451"/>
            <a:ext cx="7084913" cy="276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6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7C2784-408F-A1A6-D85A-D303AF5080C3}"/>
              </a:ext>
            </a:extLst>
          </p:cNvPr>
          <p:cNvSpPr txBox="1"/>
          <p:nvPr/>
        </p:nvSpPr>
        <p:spPr>
          <a:xfrm>
            <a:off x="4005185" y="1049765"/>
            <a:ext cx="48046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Product with Highest Sales</a:t>
            </a:r>
            <a:br>
              <a:rPr lang="en-IN" dirty="0"/>
            </a:br>
            <a:endParaRPr lang="en-IN" sz="16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236BF6C-F9EE-4684-260D-BC2E3C045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984" y="276577"/>
            <a:ext cx="10007181" cy="57187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IN" sz="20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 :- PRODUCT PERFORMANCE ANALYSIS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E73EC6-787C-83E8-3992-33F70C81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44" y="0"/>
            <a:ext cx="1805657" cy="1271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8BAE7A-0A2B-5164-54F1-8CDE0C7AD7E7}"/>
              </a:ext>
            </a:extLst>
          </p:cNvPr>
          <p:cNvSpPr txBox="1"/>
          <p:nvPr/>
        </p:nvSpPr>
        <p:spPr>
          <a:xfrm>
            <a:off x="1403934" y="6056663"/>
            <a:ext cx="968728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cs typeface="Times New Roman" panose="02020603050405020304" pitchFamily="18" charset="0"/>
              </a:rPr>
              <a:t>Product 3 is the highest-selling product, contributing the largest share of total revenue and serving as a key driver of business growth.</a:t>
            </a:r>
            <a:endParaRPr lang="en-US" sz="16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5AE8BA-99CF-31B3-F425-72662961CC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9" t="14152" r="19566" b="7718"/>
          <a:stretch>
            <a:fillRect/>
          </a:stretch>
        </p:blipFill>
        <p:spPr>
          <a:xfrm>
            <a:off x="2427769" y="1606721"/>
            <a:ext cx="7336462" cy="411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78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48125-EA4E-B196-8E2D-4540BC2F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85FEAA7-2696-3593-CA07-7D97FEFFF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984" y="384796"/>
            <a:ext cx="10007181" cy="57187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IN" sz="20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 :- PRODUCT PERFORMANCE ANALYSIS  (CONT’D)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945059-CCB9-DF2B-EF0E-783980EA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59"/>
            <a:ext cx="1805657" cy="1271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95728B2-87E0-1ED9-C4D9-E8CF4E5CB778}"/>
              </a:ext>
            </a:extLst>
          </p:cNvPr>
          <p:cNvSpPr txBox="1"/>
          <p:nvPr/>
        </p:nvSpPr>
        <p:spPr>
          <a:xfrm>
            <a:off x="1403934" y="6102711"/>
            <a:ext cx="9687280" cy="5693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550" dirty="0">
                <a:solidFill>
                  <a:schemeClr val="bg1"/>
                </a:solidFill>
              </a:rPr>
              <a:t>Product 4 generates the highest profit, making it the strongest contributor to business profitability, while Product 5 contributes the least profit and may require performance improvement strategies.</a:t>
            </a:r>
            <a:endParaRPr lang="en-US" sz="155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904273-2931-01C8-3C56-54909967DF79}"/>
              </a:ext>
            </a:extLst>
          </p:cNvPr>
          <p:cNvSpPr txBox="1"/>
          <p:nvPr/>
        </p:nvSpPr>
        <p:spPr>
          <a:xfrm>
            <a:off x="3987483" y="1146458"/>
            <a:ext cx="626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:- Analyze Product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E37E2-B917-0B56-B795-A1BFB272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6" t="14524" r="26160" b="10358"/>
          <a:stretch>
            <a:fillRect/>
          </a:stretch>
        </p:blipFill>
        <p:spPr>
          <a:xfrm>
            <a:off x="2051949" y="1679162"/>
            <a:ext cx="8088102" cy="423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8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D6A3A-BFC5-052C-3662-7CEA549E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08F0A0-7B34-523C-5F23-6C3F1A5190D7}"/>
              </a:ext>
            </a:extLst>
          </p:cNvPr>
          <p:cNvSpPr txBox="1"/>
          <p:nvPr/>
        </p:nvSpPr>
        <p:spPr>
          <a:xfrm>
            <a:off x="6247571" y="1044149"/>
            <a:ext cx="418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Strongest Performing Region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77CE24A-8223-347E-3E8E-89B001F2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983" y="271193"/>
            <a:ext cx="10007181" cy="57187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3 :- Regional Performance Analysis    </a:t>
            </a:r>
            <a:endParaRPr lang="en-I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4D93DC-B683-B777-5496-96438EA93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54" y="0"/>
            <a:ext cx="1805657" cy="12715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A42D1C-ADC5-662D-3DB9-A0A227CC342C}"/>
              </a:ext>
            </a:extLst>
          </p:cNvPr>
          <p:cNvSpPr txBox="1"/>
          <p:nvPr/>
        </p:nvSpPr>
        <p:spPr>
          <a:xfrm>
            <a:off x="1278807" y="6148824"/>
            <a:ext cx="10007181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The East region generates the highest sales and profit, making it the strongest-performing region, while the West region contributes the least, indicating opportunities for growth and improvement.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3F774D-AB05-2B61-5BD1-03F52D0EF2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3" t="14961" r="27397" b="16488"/>
          <a:stretch>
            <a:fillRect/>
          </a:stretch>
        </p:blipFill>
        <p:spPr>
          <a:xfrm>
            <a:off x="479514" y="1789953"/>
            <a:ext cx="4335082" cy="2533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F0ABDD-50C6-EBF9-2808-BFA9C853BB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97" t="14815" r="27087" b="22334"/>
          <a:stretch>
            <a:fillRect/>
          </a:stretch>
        </p:blipFill>
        <p:spPr>
          <a:xfrm>
            <a:off x="5389267" y="1592646"/>
            <a:ext cx="5896723" cy="2533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09A91C-392D-3481-E5EE-4B8EBFE45B9F}"/>
              </a:ext>
            </a:extLst>
          </p:cNvPr>
          <p:cNvSpPr txBox="1"/>
          <p:nvPr/>
        </p:nvSpPr>
        <p:spPr>
          <a:xfrm>
            <a:off x="940609" y="1147233"/>
            <a:ext cx="407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Compare Regional Sales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B8D44-A0D6-5ACC-679C-A9D19F360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52" t="56555" r="17920" b="10024"/>
          <a:stretch>
            <a:fillRect/>
          </a:stretch>
        </p:blipFill>
        <p:spPr>
          <a:xfrm>
            <a:off x="5389265" y="4125790"/>
            <a:ext cx="5896723" cy="17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13F7-6780-EE9C-3F98-81EEAE8E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E446BC5-51B0-6C35-E114-77E40E7B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984" y="384796"/>
            <a:ext cx="10007181" cy="57187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IN" sz="20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4 :-  CUSTOMER SEGMENT ANALYSIS 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FD164F-44DF-ED87-72B5-7F8AE424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59"/>
            <a:ext cx="1805657" cy="1271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48D1F5-01AF-58DB-84BF-9BC7EB911E0D}"/>
              </a:ext>
            </a:extLst>
          </p:cNvPr>
          <p:cNvSpPr txBox="1"/>
          <p:nvPr/>
        </p:nvSpPr>
        <p:spPr>
          <a:xfrm>
            <a:off x="1563885" y="6102712"/>
            <a:ext cx="968728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Sales and profit analysis reveal that the Consumer segment is the most profitable and highest-performing segment, while the Corporate segment contributes the least to the overall business growth</a:t>
            </a:r>
            <a:endParaRPr lang="en-US" sz="16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BBE15-4596-648A-C191-278F96502E2A}"/>
              </a:ext>
            </a:extLst>
          </p:cNvPr>
          <p:cNvSpPr txBox="1"/>
          <p:nvPr/>
        </p:nvSpPr>
        <p:spPr>
          <a:xfrm>
            <a:off x="1078282" y="1380759"/>
            <a:ext cx="388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:- Analyze Sales by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C62C6-776A-92B4-84D0-17DA446DACB4}"/>
              </a:ext>
            </a:extLst>
          </p:cNvPr>
          <p:cNvSpPr txBox="1"/>
          <p:nvPr/>
        </p:nvSpPr>
        <p:spPr>
          <a:xfrm>
            <a:off x="6974033" y="1380759"/>
            <a:ext cx="4139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:-  Determine Profit by Segment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49CA9D-27E9-2E44-745D-0EBD7C0D2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14" t="14779" r="46658" b="10167"/>
          <a:stretch>
            <a:fillRect/>
          </a:stretch>
        </p:blipFill>
        <p:spPr>
          <a:xfrm>
            <a:off x="902828" y="2085425"/>
            <a:ext cx="4234684" cy="3223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343828-CBB3-48CC-5460-26DF6E5281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43" t="14921" r="17117" b="12474"/>
          <a:stretch>
            <a:fillRect/>
          </a:stretch>
        </p:blipFill>
        <p:spPr>
          <a:xfrm>
            <a:off x="5860809" y="2085425"/>
            <a:ext cx="5690489" cy="329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9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67622-47C5-9A78-D87A-C516858E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47E57634-3489-E20C-6BEF-8A35BD93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984" y="384796"/>
            <a:ext cx="10007181" cy="57187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IN" sz="20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4 :-  CUSTOMER SEGMENT ANALYSIS  (CONT’D)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41A289-46FF-FD5F-A0E8-4F20855A6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59"/>
            <a:ext cx="1805657" cy="1271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64AF3A-5ED0-8A49-E442-AB97827B03F3}"/>
              </a:ext>
            </a:extLst>
          </p:cNvPr>
          <p:cNvSpPr txBox="1"/>
          <p:nvPr/>
        </p:nvSpPr>
        <p:spPr>
          <a:xfrm>
            <a:off x="1563885" y="6102712"/>
            <a:ext cx="968728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Consumer and Home Office segments contribute the majority of customers, making them the most valuable customer groups, whereas the Corporate segment has the lowest customer presence.</a:t>
            </a:r>
            <a:endParaRPr lang="en-US" sz="16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EEF94-EA02-D4A1-290C-94DC570C25E8}"/>
              </a:ext>
            </a:extLst>
          </p:cNvPr>
          <p:cNvSpPr txBox="1"/>
          <p:nvPr/>
        </p:nvSpPr>
        <p:spPr>
          <a:xfrm>
            <a:off x="3694948" y="1306506"/>
            <a:ext cx="542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:- Identify High-Value Customer Groups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FB8DC-D436-0128-DCD5-F3B7DDF03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8" t="25870" r="32346" b="11753"/>
          <a:stretch>
            <a:fillRect/>
          </a:stretch>
        </p:blipFill>
        <p:spPr>
          <a:xfrm>
            <a:off x="2535386" y="1945985"/>
            <a:ext cx="7121227" cy="367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99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EBC1-4DEF-0FB0-756A-4BE478F1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DCD43CC-D8A2-0645-26E5-720BDAE3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1979" cy="49452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IN" sz="20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000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1DA920C-27BE-8833-BF01-236CB994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" y="494522"/>
            <a:ext cx="12191979" cy="636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7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1A6B-5E6D-8E62-81F7-884E8BF4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60" y="284480"/>
            <a:ext cx="10119360" cy="62058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BDBFD-4A43-385A-5A4E-F604A8073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360" y="1497724"/>
            <a:ext cx="10353228" cy="5075796"/>
          </a:xfrm>
        </p:spPr>
        <p:txBody>
          <a:bodyPr>
            <a:noAutofit/>
          </a:bodyPr>
          <a:lstStyle/>
          <a:p>
            <a:r>
              <a:rPr lang="en-IN" sz="1800" dirty="0"/>
              <a:t>The business generated strong sales and maintained healthy profitability throughout the analysis period.</a:t>
            </a:r>
          </a:p>
          <a:p>
            <a:r>
              <a:rPr lang="en-IN" sz="1800" dirty="0"/>
              <a:t>Product 4 was the highest-performing product, while Product 5 was the lowest-performing product in terms of profit contribution.</a:t>
            </a:r>
          </a:p>
          <a:p>
            <a:r>
              <a:rPr lang="en-IN" sz="1800" dirty="0"/>
              <a:t>The East region achieved the highest sales and profit, making it the strongest-performing region.</a:t>
            </a:r>
          </a:p>
          <a:p>
            <a:r>
              <a:rPr lang="en-IN" sz="1800" dirty="0"/>
              <a:t>Consumer customers contributed the largest share of sales and profit compared to other customer segments.</a:t>
            </a:r>
          </a:p>
          <a:p>
            <a:r>
              <a:rPr lang="en-IN" sz="1800" dirty="0"/>
              <a:t>Sales and profit performance varied across products, regions, and customer groups, highlighting key business trends.</a:t>
            </a:r>
          </a:p>
          <a:p>
            <a:r>
              <a:rPr lang="en-IN" sz="1800" dirty="0"/>
              <a:t>A small number of products and regions contributed a significant portion of overall business performance.</a:t>
            </a:r>
          </a:p>
          <a:p>
            <a:r>
              <a:rPr lang="en-IN" sz="1800" dirty="0"/>
              <a:t>Customer demand remained consistent across the period, supporting stable business growth and revenue generation.</a:t>
            </a:r>
          </a:p>
          <a:p>
            <a:r>
              <a:rPr lang="en-IN" sz="1800" dirty="0"/>
              <a:t>Overall, the analysis identifies top-performing products, customer segments, and regions, helping the business make better strategic decisions and focus on future growth opportunities.</a:t>
            </a: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789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B6EC-F7A0-D96B-75CD-E4CB65AB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959" y="275668"/>
            <a:ext cx="9973867" cy="68818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challenges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7EB99D-CB40-AC4D-ACB7-81156C22D7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0647" y="1648932"/>
            <a:ext cx="9514489" cy="471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/>
              <a:t>The analysis is based on a limited dataset and may not represent all business situations.</a:t>
            </a:r>
          </a:p>
          <a:p>
            <a:endParaRPr lang="en-IN" sz="1800" dirty="0"/>
          </a:p>
          <a:p>
            <a:r>
              <a:rPr lang="en-IN" sz="1800" dirty="0"/>
              <a:t>Customer preferences and market conditions may change over time, which can affect future results.</a:t>
            </a:r>
          </a:p>
          <a:p>
            <a:endParaRPr lang="en-IN" sz="1800" dirty="0"/>
          </a:p>
          <a:p>
            <a:r>
              <a:rPr lang="en-IN" sz="1800" dirty="0"/>
              <a:t>Some external factors that influence business performance are not included in the analysis.</a:t>
            </a:r>
          </a:p>
          <a:p>
            <a:endParaRPr lang="en-IN" sz="1800" dirty="0"/>
          </a:p>
          <a:p>
            <a:r>
              <a:rPr lang="en-IN" sz="1800" dirty="0"/>
              <a:t>The findings depend on the accuracy and completeness of the available data.</a:t>
            </a:r>
          </a:p>
          <a:p>
            <a:endParaRPr lang="en-IN" sz="1800" dirty="0"/>
          </a:p>
          <a:p>
            <a:r>
              <a:rPr lang="en-IN" sz="1800" dirty="0"/>
              <a:t>The insights should be used as a guide for decision-making rather than as exact predictions of future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38D1C-7585-6183-2BF4-4852F523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54" y="111967"/>
            <a:ext cx="865237" cy="94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72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A48BD-FB85-2E07-24DF-1F0765AC5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952" y="1836093"/>
            <a:ext cx="9764175" cy="4406916"/>
          </a:xfrm>
        </p:spPr>
        <p:txBody>
          <a:bodyPr>
            <a:normAutofit fontScale="92500" lnSpcReduction="20000"/>
          </a:bodyPr>
          <a:lstStyle/>
          <a:p>
            <a:r>
              <a:rPr lang="en-IN" sz="1800" dirty="0"/>
              <a:t>The business achieved strong overall performance through sales across different products, customers, and regions.</a:t>
            </a:r>
          </a:p>
          <a:p>
            <a:endParaRPr lang="en-IN" sz="1800" dirty="0"/>
          </a:p>
          <a:p>
            <a:r>
              <a:rPr lang="en-IN" sz="1800" dirty="0"/>
              <a:t>A few products and regions contributed more to business success, showing where customer demand is strongest.</a:t>
            </a:r>
          </a:p>
          <a:p>
            <a:endParaRPr lang="en-IN" sz="1800" dirty="0"/>
          </a:p>
          <a:p>
            <a:r>
              <a:rPr lang="en-IN" sz="1800" dirty="0"/>
              <a:t>Customer buying patterns vary, making it important to understand what customers prefer most.</a:t>
            </a:r>
          </a:p>
          <a:p>
            <a:endParaRPr lang="en-IN" sz="1800" dirty="0"/>
          </a:p>
          <a:p>
            <a:r>
              <a:rPr lang="en-IN" sz="1800" dirty="0"/>
              <a:t>Identifying top-performing and low-performing areas helps the business focus on growth opportunities.</a:t>
            </a:r>
          </a:p>
          <a:p>
            <a:endParaRPr lang="en-IN" sz="1800" dirty="0"/>
          </a:p>
          <a:p>
            <a:r>
              <a:rPr lang="en-IN" sz="1800" dirty="0"/>
              <a:t>Overall, the analysis provides valuable insights that can support better planning, improved performance, and future business growth.</a:t>
            </a: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B756EB-031F-5693-B30E-AB135FE97F6E}"/>
              </a:ext>
            </a:extLst>
          </p:cNvPr>
          <p:cNvSpPr txBox="1">
            <a:spLocks/>
          </p:cNvSpPr>
          <p:nvPr/>
        </p:nvSpPr>
        <p:spPr>
          <a:xfrm>
            <a:off x="1229360" y="284480"/>
            <a:ext cx="10119360" cy="8354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1097843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6127F-E1E0-472A-CAAC-DF5744201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3392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49921</TotalTime>
  <Words>1042</Words>
  <Application>Microsoft Office PowerPoint</Application>
  <PresentationFormat>Widescreen</PresentationFormat>
  <Paragraphs>137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Tw Cen MT</vt:lpstr>
      <vt:lpstr>Circuit</vt:lpstr>
      <vt:lpstr>EXECUTIVE SALES &amp; REVENUE PERFORMANCE ANALYSIS  </vt:lpstr>
      <vt:lpstr>Introduction</vt:lpstr>
      <vt:lpstr>OBJECTIVES</vt:lpstr>
      <vt:lpstr>DATASET SOURCE</vt:lpstr>
      <vt:lpstr>DATASET SOURCE (CONT’D)</vt:lpstr>
      <vt:lpstr>DATASET SOURCE (CONT’D)</vt:lpstr>
      <vt:lpstr>PROJECT FLOW</vt:lpstr>
      <vt:lpstr> OBJECTIVES  &amp; TASKS</vt:lpstr>
      <vt:lpstr> OBJECTIVE 1 :- SALES PERFORMANCE ANALYSIS    </vt:lpstr>
      <vt:lpstr> OBJECTIVE 2 :- PRODUCT PERFORMANCE ANALYSIS   </vt:lpstr>
      <vt:lpstr> OBJECTIVE 2 :- PRODUCT PERFORMANCE ANALYSIS  (CONT’D)   </vt:lpstr>
      <vt:lpstr>OBJECTIVE 3 :- Regional Performance Analysis    </vt:lpstr>
      <vt:lpstr> OBJECTIVE 4 :-  CUSTOMER SEGMENT ANALYSIS     </vt:lpstr>
      <vt:lpstr> OBJECTIVE 4 :-  CUSTOMER SEGMENT ANALYSIS  (CONT’D)   </vt:lpstr>
      <vt:lpstr> DASHBOARD   </vt:lpstr>
      <vt:lpstr>SUMMARY </vt:lpstr>
      <vt:lpstr>                     Limitations &amp; challenges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 Patel</dc:creator>
  <cp:lastModifiedBy>Srinivas Patel</cp:lastModifiedBy>
  <cp:revision>13</cp:revision>
  <dcterms:created xsi:type="dcterms:W3CDTF">2026-01-01T04:56:55Z</dcterms:created>
  <dcterms:modified xsi:type="dcterms:W3CDTF">2026-07-08T14:20:26Z</dcterms:modified>
</cp:coreProperties>
</file>